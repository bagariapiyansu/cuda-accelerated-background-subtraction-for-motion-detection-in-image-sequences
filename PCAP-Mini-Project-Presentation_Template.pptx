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6" r:id="rId5"/>
    <p:sldId id="258" r:id="rId6"/>
    <p:sldId id="268" r:id="rId7"/>
    <p:sldId id="269" r:id="rId8"/>
    <p:sldId id="271" r:id="rId9"/>
    <p:sldId id="272" r:id="rId10"/>
    <p:sldId id="273" r:id="rId11"/>
    <p:sldId id="274" r:id="rId12"/>
    <p:sldId id="279" r:id="rId13"/>
    <p:sldId id="275" r:id="rId14"/>
    <p:sldId id="276" r:id="rId15"/>
    <p:sldId id="27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ED96EC-9671-466F-A1B6-B2DEE20B62AA}" v="27" dt="2026-04-09T04:32:34.9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3" autoAdjust="0"/>
    <p:restoredTop sz="94660"/>
  </p:normalViewPr>
  <p:slideViewPr>
    <p:cSldViewPr snapToGrid="0">
      <p:cViewPr varScale="1">
        <p:scale>
          <a:sx n="78" d="100"/>
          <a:sy n="78" d="100"/>
        </p:scale>
        <p:origin x="719" y="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iyansu Bagaria" userId="ad91d221b06ab98c" providerId="LiveId" clId="{58928904-3360-4A1A-8AD5-89512D2139EF}"/>
    <pc:docChg chg="undo redo custSel addSld modSld">
      <pc:chgData name="Piyansu Bagaria" userId="ad91d221b06ab98c" providerId="LiveId" clId="{58928904-3360-4A1A-8AD5-89512D2139EF}" dt="2026-04-09T04:32:42.545" v="476" actId="20577"/>
      <pc:docMkLst>
        <pc:docMk/>
      </pc:docMkLst>
      <pc:sldChg chg="modSp mod">
        <pc:chgData name="Piyansu Bagaria" userId="ad91d221b06ab98c" providerId="LiveId" clId="{58928904-3360-4A1A-8AD5-89512D2139EF}" dt="2026-04-09T04:17:18.853" v="28" actId="20577"/>
        <pc:sldMkLst>
          <pc:docMk/>
          <pc:sldMk cId="4289812647" sldId="256"/>
        </pc:sldMkLst>
        <pc:spChg chg="mod">
          <ac:chgData name="Piyansu Bagaria" userId="ad91d221b06ab98c" providerId="LiveId" clId="{58928904-3360-4A1A-8AD5-89512D2139EF}" dt="2026-04-09T04:17:18.853" v="28" actId="20577"/>
          <ac:spMkLst>
            <pc:docMk/>
            <pc:sldMk cId="4289812647" sldId="256"/>
            <ac:spMk id="3" creationId="{0B304A5B-A54F-4A67-93A1-9C57D7288ED8}"/>
          </ac:spMkLst>
        </pc:spChg>
      </pc:sldChg>
      <pc:sldChg chg="modSp mod">
        <pc:chgData name="Piyansu Bagaria" userId="ad91d221b06ab98c" providerId="LiveId" clId="{58928904-3360-4A1A-8AD5-89512D2139EF}" dt="2026-04-09T04:18:00.615" v="38" actId="27636"/>
        <pc:sldMkLst>
          <pc:docMk/>
          <pc:sldMk cId="2763737118" sldId="258"/>
        </pc:sldMkLst>
        <pc:spChg chg="mod">
          <ac:chgData name="Piyansu Bagaria" userId="ad91d221b06ab98c" providerId="LiveId" clId="{58928904-3360-4A1A-8AD5-89512D2139EF}" dt="2026-04-09T04:18:00.615" v="38" actId="27636"/>
          <ac:spMkLst>
            <pc:docMk/>
            <pc:sldMk cId="2763737118" sldId="258"/>
            <ac:spMk id="3" creationId="{0B304A5B-A54F-4A67-93A1-9C57D7288ED8}"/>
          </ac:spMkLst>
        </pc:spChg>
      </pc:sldChg>
      <pc:sldChg chg="modSp mod">
        <pc:chgData name="Piyansu Bagaria" userId="ad91d221b06ab98c" providerId="LiveId" clId="{58928904-3360-4A1A-8AD5-89512D2139EF}" dt="2026-04-09T04:18:18.403" v="44"/>
        <pc:sldMkLst>
          <pc:docMk/>
          <pc:sldMk cId="3556195782" sldId="268"/>
        </pc:sldMkLst>
        <pc:spChg chg="mod">
          <ac:chgData name="Piyansu Bagaria" userId="ad91d221b06ab98c" providerId="LiveId" clId="{58928904-3360-4A1A-8AD5-89512D2139EF}" dt="2026-04-09T04:18:18.403" v="44"/>
          <ac:spMkLst>
            <pc:docMk/>
            <pc:sldMk cId="3556195782" sldId="268"/>
            <ac:spMk id="3" creationId="{0CB62DCE-A71B-99F5-1381-3A327BC9EFE5}"/>
          </ac:spMkLst>
        </pc:spChg>
      </pc:sldChg>
      <pc:sldChg chg="modSp mod">
        <pc:chgData name="Piyansu Bagaria" userId="ad91d221b06ab98c" providerId="LiveId" clId="{58928904-3360-4A1A-8AD5-89512D2139EF}" dt="2026-04-09T04:20:18.030" v="137" actId="20577"/>
        <pc:sldMkLst>
          <pc:docMk/>
          <pc:sldMk cId="1495401693" sldId="269"/>
        </pc:sldMkLst>
        <pc:spChg chg="mod">
          <ac:chgData name="Piyansu Bagaria" userId="ad91d221b06ab98c" providerId="LiveId" clId="{58928904-3360-4A1A-8AD5-89512D2139EF}" dt="2026-04-09T04:20:18.030" v="137" actId="20577"/>
          <ac:spMkLst>
            <pc:docMk/>
            <pc:sldMk cId="1495401693" sldId="269"/>
            <ac:spMk id="3" creationId="{A5F49001-1F3D-68CD-87C3-6008E1B5AF1A}"/>
          </ac:spMkLst>
        </pc:spChg>
      </pc:sldChg>
      <pc:sldChg chg="modSp">
        <pc:chgData name="Piyansu Bagaria" userId="ad91d221b06ab98c" providerId="LiveId" clId="{58928904-3360-4A1A-8AD5-89512D2139EF}" dt="2026-04-09T04:20:36.634" v="138"/>
        <pc:sldMkLst>
          <pc:docMk/>
          <pc:sldMk cId="1772459087" sldId="271"/>
        </pc:sldMkLst>
        <pc:spChg chg="mod">
          <ac:chgData name="Piyansu Bagaria" userId="ad91d221b06ab98c" providerId="LiveId" clId="{58928904-3360-4A1A-8AD5-89512D2139EF}" dt="2026-04-09T04:20:36.634" v="138"/>
          <ac:spMkLst>
            <pc:docMk/>
            <pc:sldMk cId="1772459087" sldId="271"/>
            <ac:spMk id="5" creationId="{70210CDC-606F-B3DB-2A5A-BBA1E6853F9A}"/>
          </ac:spMkLst>
        </pc:spChg>
      </pc:sldChg>
      <pc:sldChg chg="modSp mod">
        <pc:chgData name="Piyansu Bagaria" userId="ad91d221b06ab98c" providerId="LiveId" clId="{58928904-3360-4A1A-8AD5-89512D2139EF}" dt="2026-04-09T04:22:48.903" v="142" actId="20577"/>
        <pc:sldMkLst>
          <pc:docMk/>
          <pc:sldMk cId="2084086018" sldId="272"/>
        </pc:sldMkLst>
        <pc:spChg chg="mod">
          <ac:chgData name="Piyansu Bagaria" userId="ad91d221b06ab98c" providerId="LiveId" clId="{58928904-3360-4A1A-8AD5-89512D2139EF}" dt="2026-04-09T04:22:48.903" v="142" actId="20577"/>
          <ac:spMkLst>
            <pc:docMk/>
            <pc:sldMk cId="2084086018" sldId="272"/>
            <ac:spMk id="5" creationId="{0A153811-ED09-0D68-4EC0-C788F62E4688}"/>
          </ac:spMkLst>
        </pc:spChg>
      </pc:sldChg>
      <pc:sldChg chg="modSp mod">
        <pc:chgData name="Piyansu Bagaria" userId="ad91d221b06ab98c" providerId="LiveId" clId="{58928904-3360-4A1A-8AD5-89512D2139EF}" dt="2026-04-09T04:23:41.606" v="148" actId="1076"/>
        <pc:sldMkLst>
          <pc:docMk/>
          <pc:sldMk cId="1595930190" sldId="273"/>
        </pc:sldMkLst>
        <pc:spChg chg="mod">
          <ac:chgData name="Piyansu Bagaria" userId="ad91d221b06ab98c" providerId="LiveId" clId="{58928904-3360-4A1A-8AD5-89512D2139EF}" dt="2026-04-09T04:23:41.606" v="148" actId="1076"/>
          <ac:spMkLst>
            <pc:docMk/>
            <pc:sldMk cId="1595930190" sldId="273"/>
            <ac:spMk id="5" creationId="{B8EE93A7-8FC3-E33D-1CBF-78A216B9A9A2}"/>
          </ac:spMkLst>
        </pc:spChg>
      </pc:sldChg>
      <pc:sldChg chg="modSp mod">
        <pc:chgData name="Piyansu Bagaria" userId="ad91d221b06ab98c" providerId="LiveId" clId="{58928904-3360-4A1A-8AD5-89512D2139EF}" dt="2026-04-09T04:32:42.545" v="476" actId="20577"/>
        <pc:sldMkLst>
          <pc:docMk/>
          <pc:sldMk cId="2427365438" sldId="274"/>
        </pc:sldMkLst>
        <pc:spChg chg="mod">
          <ac:chgData name="Piyansu Bagaria" userId="ad91d221b06ab98c" providerId="LiveId" clId="{58928904-3360-4A1A-8AD5-89512D2139EF}" dt="2026-04-09T04:32:42.545" v="476" actId="20577"/>
          <ac:spMkLst>
            <pc:docMk/>
            <pc:sldMk cId="2427365438" sldId="274"/>
            <ac:spMk id="3" creationId="{121B8C29-2F31-C247-F730-95DDFAD147CA}"/>
          </ac:spMkLst>
        </pc:spChg>
        <pc:spChg chg="mod">
          <ac:chgData name="Piyansu Bagaria" userId="ad91d221b06ab98c" providerId="LiveId" clId="{58928904-3360-4A1A-8AD5-89512D2139EF}" dt="2026-04-09T04:32:34.929" v="471"/>
          <ac:spMkLst>
            <pc:docMk/>
            <pc:sldMk cId="2427365438" sldId="274"/>
            <ac:spMk id="5" creationId="{2F933200-7BD3-77FB-DAD7-543E8943AA46}"/>
          </ac:spMkLst>
        </pc:spChg>
      </pc:sldChg>
      <pc:sldChg chg="addSp modSp mod">
        <pc:chgData name="Piyansu Bagaria" userId="ad91d221b06ab98c" providerId="LiveId" clId="{58928904-3360-4A1A-8AD5-89512D2139EF}" dt="2026-04-09T04:31:32.576" v="447" actId="2711"/>
        <pc:sldMkLst>
          <pc:docMk/>
          <pc:sldMk cId="796697176" sldId="275"/>
        </pc:sldMkLst>
        <pc:spChg chg="mod">
          <ac:chgData name="Piyansu Bagaria" userId="ad91d221b06ab98c" providerId="LiveId" clId="{58928904-3360-4A1A-8AD5-89512D2139EF}" dt="2026-04-09T04:30:53.356" v="445" actId="20577"/>
          <ac:spMkLst>
            <pc:docMk/>
            <pc:sldMk cId="796697176" sldId="275"/>
            <ac:spMk id="5" creationId="{E0192D0F-A1EC-49AD-F0CC-0937C8DC948F}"/>
          </ac:spMkLst>
        </pc:spChg>
        <pc:graphicFrameChg chg="add mod modGraphic">
          <ac:chgData name="Piyansu Bagaria" userId="ad91d221b06ab98c" providerId="LiveId" clId="{58928904-3360-4A1A-8AD5-89512D2139EF}" dt="2026-04-09T04:31:32.576" v="447" actId="2711"/>
          <ac:graphicFrameMkLst>
            <pc:docMk/>
            <pc:sldMk cId="796697176" sldId="275"/>
            <ac:graphicFrameMk id="4" creationId="{25EF67D1-A296-8CC4-9FF2-AEF4D2AB8AFB}"/>
          </ac:graphicFrameMkLst>
        </pc:graphicFrameChg>
      </pc:sldChg>
      <pc:sldChg chg="modSp mod">
        <pc:chgData name="Piyansu Bagaria" userId="ad91d221b06ab98c" providerId="LiveId" clId="{58928904-3360-4A1A-8AD5-89512D2139EF}" dt="2026-04-09T04:32:04.594" v="470" actId="20577"/>
        <pc:sldMkLst>
          <pc:docMk/>
          <pc:sldMk cId="126620899" sldId="276"/>
        </pc:sldMkLst>
        <pc:spChg chg="mod">
          <ac:chgData name="Piyansu Bagaria" userId="ad91d221b06ab98c" providerId="LiveId" clId="{58928904-3360-4A1A-8AD5-89512D2139EF}" dt="2026-04-09T04:32:04.594" v="470" actId="20577"/>
          <ac:spMkLst>
            <pc:docMk/>
            <pc:sldMk cId="126620899" sldId="276"/>
            <ac:spMk id="3" creationId="{36DBBA77-5E18-055D-2366-C932DF80ACA0}"/>
          </ac:spMkLst>
        </pc:spChg>
      </pc:sldChg>
      <pc:sldChg chg="modSp add mod">
        <pc:chgData name="Piyansu Bagaria" userId="ad91d221b06ab98c" providerId="LiveId" clId="{58928904-3360-4A1A-8AD5-89512D2139EF}" dt="2026-04-09T04:25:52.797" v="208" actId="20577"/>
        <pc:sldMkLst>
          <pc:docMk/>
          <pc:sldMk cId="3114384372" sldId="279"/>
        </pc:sldMkLst>
        <pc:spChg chg="mod">
          <ac:chgData name="Piyansu Bagaria" userId="ad91d221b06ab98c" providerId="LiveId" clId="{58928904-3360-4A1A-8AD5-89512D2139EF}" dt="2026-04-09T04:25:52.797" v="208" actId="20577"/>
          <ac:spMkLst>
            <pc:docMk/>
            <pc:sldMk cId="3114384372" sldId="279"/>
            <ac:spMk id="3" creationId="{81147901-9CE7-9168-93FB-B33B78B9A88E}"/>
          </ac:spMkLst>
        </pc:spChg>
        <pc:spChg chg="mod">
          <ac:chgData name="Piyansu Bagaria" userId="ad91d221b06ab98c" providerId="LiveId" clId="{58928904-3360-4A1A-8AD5-89512D2139EF}" dt="2026-04-09T04:25:03.573" v="152" actId="20577"/>
          <ac:spMkLst>
            <pc:docMk/>
            <pc:sldMk cId="3114384372" sldId="279"/>
            <ac:spMk id="5" creationId="{837E9619-90C0-3ED6-5DDF-DA61B49E0CEF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EFFC48A-40A8-4815-BA95-23178E6D294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ICICC-2021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0C60B8-AC82-45A9-82DA-49E3C3D8F38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92AD30-3EB1-44F3-99FC-CA174BE79D9D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0A9232-31CD-406D-82AE-EA68BC6064E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C2C502-FE3D-48CE-962A-D0C5905217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54DA78-81CE-4CDA-BCDF-F9A71A5A3A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9651629"/>
      </p:ext>
    </p:extLst>
  </p:cSld>
  <p:clrMap bg1="lt1" tx1="dk1" bg2="lt2" tx2="dk2" accent1="accent1" accent2="accent2" accent3="accent3" accent4="accent4" accent5="accent5" accent6="accent6" hlink="hlink" folHlink="folHlink"/>
  <p:hf sldNum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ICICC-2021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518E6E-0D61-4A63-AE58-B654B59B306F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E1FFA8-44D0-41D2-B252-050984594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7495634"/>
      </p:ext>
    </p:extLst>
  </p:cSld>
  <p:clrMap bg1="lt1" tx1="dk1" bg2="lt2" tx2="dk2" accent1="accent1" accent2="accent2" accent3="accent3" accent4="accent4" accent5="accent5" accent6="accent6" hlink="hlink" folHlink="folHlink"/>
  <p:hf sldNum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AF19C-4D3B-4283-B632-5CFB8FB956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E01616-88CA-4437-B1B8-62F6DEE62A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F3850B-84AC-47FE-8838-BED318289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BAC6A-A91B-473B-A90E-04D6A6B29CE7}" type="datetime1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4EC73D-0A8A-4950-9FD7-487AC00EA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2nd International Symposium on Securing Next-Generation Systems using Future Artificial Intelligence Technologies 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5618BE-0643-45DA-993E-5938F8F8B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4500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C83C3-5D56-47C4-BAAA-0AEE6B039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5191E-F147-465C-B1BC-F3192025C9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84D21-8E56-4941-93C0-57B67E22C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53B88-9E2F-4E0D-BEB5-9512ABE20021}" type="datetime1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79476B-12F5-4CE0-8BED-CC7E02D05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2nd International Symposium on Securing Next-Generation Systems using Future Artificial Intelligence Technologies 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82A1D1-2DC0-4EB9-B1C0-3D0A17261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4062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23532-2579-487E-A806-FE059BC2E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1D22E9-2061-45FA-973E-DC229F8B3A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3E1C65-23E2-4167-B173-FA4734A19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CD3E1-7812-4A9E-B864-B81937D742C8}" type="datetime1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BCE50-78C6-4AF3-8C31-1792D834E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2nd International Symposium on Securing Next-Generation Systems using Future Artificial Intelligence Technologies 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7E728E-FD97-4282-985C-0A8FA9348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9065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8648D-8839-402E-8EBE-66C675551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641E8-F7C7-4F72-83E8-E8E8F3A895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211418-08AA-441A-8A66-97EDBEE0AF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3319B3-62E9-4A88-A05B-55A69EF51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624A2-7147-41C7-8F51-419AC86CB2DA}" type="datetime1">
              <a:rPr lang="en-IN" smtClean="0"/>
              <a:t>09-04-2026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BF91A1-5E44-452F-A78A-FBA5E47F4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2nd International Symposium on Securing Next-Generation Systems using Future Artificial Intelligence Technologies 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F1FC47-031D-4E2A-B90F-BE2FE4142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7207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7A536-4AE1-4490-9878-471FF125A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16612D-5A89-4E9A-90B8-BF7FFA8A89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0DF513-E926-411D-8D2B-8831CD3096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BBC415-A031-49A9-9DAD-F150409D1F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F0D390-93EF-4E83-9F5B-91286149D7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8EC721-76DC-43AF-96DF-A0EE7072B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5227A-EA38-4682-809F-1AB178D82CAD}" type="datetime1">
              <a:rPr lang="en-IN" smtClean="0"/>
              <a:t>09-04-2026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B44597-18DE-4775-8FB6-A97F0DA48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2nd International Symposium on Securing Next-Generation Systems using Future Artificial Intelligence Technologies 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C72141-DE0D-4AEB-B511-CB9B54FD6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1677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512DF-0ED8-4277-B395-2A4F842B7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0E3D8E-0ABE-4734-98F8-D36BD9940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0AF2A-080E-4A88-B0AF-245159A4CDC9}" type="datetime1">
              <a:rPr lang="en-IN" smtClean="0"/>
              <a:t>09-04-2026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0561F1-B38C-461E-85F3-2481751D0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2nd International Symposium on Securing Next-Generation Systems using Future Artificial Intelligence Technologies 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712915-E4FE-415C-9D69-B845A7D83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7365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922E84-AD5B-465F-98D4-488F871AA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649F6-3336-4E62-A4DA-8CA689137BEC}" type="datetime1">
              <a:rPr lang="en-IN" smtClean="0"/>
              <a:t>09-04-2026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86C86A-862E-4B6A-B263-B01DE6A5B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2nd International Symposium on Securing Next-Generation Systems using Future Artificial Intelligence Technologies 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2333FC-1B71-4E52-BF49-4D36D0920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3833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BCCDE-35D4-412E-AFAB-C219873FE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E1492-B8B6-4708-A8C8-A138B06333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300379-D005-4BAC-B925-C132043087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EB0578-F2D9-4D73-83B2-F23670EBE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C179E-15EB-4A92-9A06-B8176C6C8A64}" type="datetime1">
              <a:rPr lang="en-IN" smtClean="0"/>
              <a:t>09-04-2026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4F134B-4FB5-46E9-8513-DB4C9B2EE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2nd International Symposium on Securing Next-Generation Systems using Future Artificial Intelligence Technologies 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EE61B3-BD8A-43AB-BB10-5B53A90AD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17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8223D-FF11-4AE7-973E-C90327524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0DF81C-EE9D-4D7F-A967-0672314476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53EF43-9D88-4586-A760-098C147507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BBD912-76F0-4805-9E0D-7C09F249E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C5B34-9F94-40EC-911F-D5B5FF23FB31}" type="datetime1">
              <a:rPr lang="en-IN" smtClean="0"/>
              <a:t>09-04-2026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50FEFC-E6F0-4221-8F91-DEE76671F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2nd International Symposium on Securing Next-Generation Systems using Future Artificial Intelligence Technologies 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0A78C8-FCAB-43A2-9CE6-A2768B5DA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632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B5A84-E335-48CC-A676-05D91F6A7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60F8BF-FFBC-41F7-B2B0-2CF3804EE2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5955D-CA90-44D7-BF8E-BC38A3F36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62C73-B261-4FD4-BAD4-0AD039A7E604}" type="datetime1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0CB078-D83E-4166-A02C-B6B163DA9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2nd International Symposium on Securing Next-Generation Systems using Future Artificial Intelligence Technologies 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2FEF6-C837-419F-8835-DC22EF83E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1205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1401E9-8805-42DB-AC72-2AE0FF03F7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EEB009-1E61-4516-B850-2D2767C6B6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DE6585-E3B2-43BE-AAE1-443822B2F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65B16-E566-4C1A-A21C-527B43D72336}" type="datetime1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8DC36A-90BB-45C6-86EC-EF77DE5E6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2nd International Symposium on Securing Next-Generation Systems using Future Artificial Intelligence Technologies 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E6A805-3800-4CB1-9ADA-94754454E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9833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DEB43A-BD9E-4874-BFFB-60C4AC61A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76C3F-335A-4DB7-9751-C78105CE3F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A7C449-54C2-463E-BDDF-5F5299CBAE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62B17B-ED7F-41D4-8FD8-884B8E995DBB}" type="datetime1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337EE8-8318-4653-A49C-0E3AAA3CE2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2nd International Symposium on Securing Next-Generation Systems using Future Artificial Intelligence Technologies 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5FA26E-3201-463F-ACF3-CBF98D3B2E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47CD7D-2DE7-4E97-993E-733569484B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7771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3517" y="1669311"/>
            <a:ext cx="11847005" cy="497858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85000" lnSpcReduction="20000"/>
          </a:bodyPr>
          <a:lstStyle/>
          <a:p>
            <a:r>
              <a:rPr lang="en-IN" sz="2800" b="1" dirty="0">
                <a:solidFill>
                  <a:srgbClr val="002060"/>
                </a:solidFill>
                <a:latin typeface="Comic Sans MS" panose="030F0702030302020204" pitchFamily="66" charset="0"/>
              </a:rPr>
              <a:t>Mini Project Presentation</a:t>
            </a:r>
            <a:endParaRPr lang="en-IN" b="1" dirty="0">
              <a:solidFill>
                <a:srgbClr val="002060"/>
              </a:solidFill>
              <a:latin typeface="Comic Sans MS" panose="030F0702030302020204" pitchFamily="66" charset="0"/>
            </a:endParaRPr>
          </a:p>
          <a:p>
            <a:endParaRPr lang="en-IN" sz="1400" dirty="0">
              <a:latin typeface="Comic Sans MS" panose="030F0702030302020204" pitchFamily="66" charset="0"/>
            </a:endParaRPr>
          </a:p>
          <a:p>
            <a:endParaRPr lang="en-IN" sz="1400" dirty="0">
              <a:latin typeface="Comic Sans MS" panose="030F0702030302020204" pitchFamily="66" charset="0"/>
            </a:endParaRPr>
          </a:p>
          <a:p>
            <a:r>
              <a:rPr lang="en-IN" sz="3200" b="1" dirty="0">
                <a:latin typeface="Comic Sans MS" panose="030F0702030302020204" pitchFamily="66" charset="0"/>
              </a:rPr>
              <a:t>CUDA-Accelerated Background Subtraction  </a:t>
            </a:r>
          </a:p>
          <a:p>
            <a:r>
              <a:rPr lang="en-IN" sz="3200" b="1" dirty="0">
                <a:latin typeface="Comic Sans MS" panose="030F0702030302020204" pitchFamily="66" charset="0"/>
              </a:rPr>
              <a:t>for Motion Detection in Image Sequences</a:t>
            </a:r>
          </a:p>
          <a:p>
            <a:endParaRPr lang="en-IN" sz="3200" b="1" dirty="0">
              <a:latin typeface="Comic Sans MS" panose="030F0702030302020204" pitchFamily="66" charset="0"/>
            </a:endParaRPr>
          </a:p>
          <a:p>
            <a:r>
              <a:rPr lang="en-IN" sz="3200" b="1" dirty="0">
                <a:latin typeface="Comic Sans MS" panose="030F0702030302020204" pitchFamily="66" charset="0"/>
              </a:rPr>
              <a:t>Piyansu Bagaria (230962150)  </a:t>
            </a:r>
          </a:p>
          <a:p>
            <a:r>
              <a:rPr lang="en-IN" sz="3200" b="1" dirty="0">
                <a:latin typeface="Comic Sans MS" panose="030F0702030302020204" pitchFamily="66" charset="0"/>
              </a:rPr>
              <a:t>Anubhav Basu (230962192)  </a:t>
            </a:r>
          </a:p>
          <a:p>
            <a:r>
              <a:rPr lang="en-IN" sz="3200" b="1" dirty="0">
                <a:latin typeface="Comic Sans MS" panose="030F0702030302020204" pitchFamily="66" charset="0"/>
              </a:rPr>
              <a:t>Aatman Gupta (230962216)</a:t>
            </a:r>
          </a:p>
          <a:p>
            <a:endParaRPr lang="en-IN" sz="3200" b="1" dirty="0">
              <a:latin typeface="Comic Sans MS" panose="030F0702030302020204" pitchFamily="66" charset="0"/>
            </a:endParaRPr>
          </a:p>
          <a:p>
            <a:r>
              <a:rPr lang="en-IN" sz="3200" b="1" dirty="0">
                <a:latin typeface="Comic Sans MS" panose="030F0702030302020204" pitchFamily="66" charset="0"/>
              </a:rPr>
              <a:t>Department of CSE  </a:t>
            </a:r>
          </a:p>
          <a:p>
            <a:r>
              <a:rPr lang="en-IN" sz="3200" b="1" dirty="0">
                <a:latin typeface="Comic Sans MS" panose="030F0702030302020204" pitchFamily="66" charset="0"/>
              </a:rPr>
              <a:t>MIT Manipal</a:t>
            </a:r>
            <a:endParaRPr lang="en-IN" sz="1400" b="1" dirty="0">
              <a:latin typeface="Comic Sans MS" panose="030F0702030302020204" pitchFamily="66" charset="0"/>
            </a:endParaRPr>
          </a:p>
          <a:p>
            <a:endParaRPr lang="en-IN" sz="1400" dirty="0">
              <a:latin typeface="Comic Sans MS" panose="030F0702030302020204" pitchFamily="66" charset="0"/>
            </a:endParaRPr>
          </a:p>
          <a:p>
            <a:endParaRPr lang="en-IN" sz="1400" dirty="0">
              <a:latin typeface="Comic Sans MS" panose="030F0702030302020204" pitchFamily="66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E58127-D07C-63F1-ECE2-31CB5F8028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698" y="108420"/>
            <a:ext cx="1571844" cy="14289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9EC9812-C282-2624-8E13-1A8C2161C3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2394" y="43085"/>
            <a:ext cx="4230463" cy="1559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812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304A5B-A54F-4A67-93A1-9C57D728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0670" y="1690577"/>
            <a:ext cx="11678776" cy="4701345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INDEX: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r>
              <a:rPr lang="en-US" dirty="0">
                <a:latin typeface="Comic Sans MS" panose="030F0702030302020204" pitchFamily="66" charset="0"/>
              </a:rPr>
              <a:t>1. Abstract  </a:t>
            </a:r>
          </a:p>
          <a:p>
            <a:pPr algn="l"/>
            <a:r>
              <a:rPr lang="en-US" dirty="0">
                <a:latin typeface="Comic Sans MS" panose="030F0702030302020204" pitchFamily="66" charset="0"/>
              </a:rPr>
              <a:t>2. Introduction  </a:t>
            </a:r>
          </a:p>
          <a:p>
            <a:pPr algn="l"/>
            <a:r>
              <a:rPr lang="en-US" dirty="0">
                <a:latin typeface="Comic Sans MS" panose="030F0702030302020204" pitchFamily="66" charset="0"/>
              </a:rPr>
              <a:t>3. Literature Review  </a:t>
            </a:r>
          </a:p>
          <a:p>
            <a:pPr algn="l"/>
            <a:r>
              <a:rPr lang="en-US" dirty="0">
                <a:latin typeface="Comic Sans MS" panose="030F0702030302020204" pitchFamily="66" charset="0"/>
              </a:rPr>
              <a:t>4. Research Gaps  </a:t>
            </a:r>
          </a:p>
          <a:p>
            <a:pPr algn="l"/>
            <a:r>
              <a:rPr lang="en-US" dirty="0">
                <a:latin typeface="Comic Sans MS" panose="030F0702030302020204" pitchFamily="66" charset="0"/>
              </a:rPr>
              <a:t>5. Proposed Methodology  </a:t>
            </a:r>
          </a:p>
          <a:p>
            <a:pPr algn="l"/>
            <a:r>
              <a:rPr lang="en-US" dirty="0">
                <a:latin typeface="Comic Sans MS" panose="030F0702030302020204" pitchFamily="66" charset="0"/>
              </a:rPr>
              <a:t>6. Results &amp; Discussion  </a:t>
            </a:r>
          </a:p>
          <a:p>
            <a:pPr algn="l"/>
            <a:r>
              <a:rPr lang="en-US" dirty="0">
                <a:latin typeface="Comic Sans MS" panose="030F0702030302020204" pitchFamily="66" charset="0"/>
              </a:rPr>
              <a:t>7. Comparative Analysis  </a:t>
            </a:r>
          </a:p>
          <a:p>
            <a:pPr algn="l"/>
            <a:r>
              <a:rPr lang="en-US" dirty="0">
                <a:latin typeface="Comic Sans MS" panose="030F0702030302020204" pitchFamily="66" charset="0"/>
              </a:rPr>
              <a:t>8. Conclusion &amp; Future Work  </a:t>
            </a:r>
          </a:p>
          <a:p>
            <a:pPr algn="l"/>
            <a:r>
              <a:rPr lang="en-US" dirty="0">
                <a:latin typeface="Comic Sans MS" panose="030F0702030302020204" pitchFamily="66" charset="0"/>
              </a:rPr>
              <a:t>9. References </a:t>
            </a:r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endParaRPr lang="en-IN" dirty="0">
              <a:latin typeface="Comic Sans MS" panose="030F0702030302020204" pitchFamily="66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961FD27-0AE0-6CEE-83D2-5AF6B5350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17" y="43087"/>
            <a:ext cx="1571844" cy="14289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F56327-5388-2C39-8F59-D92F93BD92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2394" y="43085"/>
            <a:ext cx="4230463" cy="1559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7371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5EB14-B461-D72D-C2B7-C6833659E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CB62DCE-A71B-99F5-1381-3A327BC9EF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8118" y="1765004"/>
            <a:ext cx="11691327" cy="4626917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ABSTRACT: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r>
              <a:rPr lang="en-US" dirty="0">
                <a:latin typeface="Comic Sans MS" panose="030F0702030302020204" pitchFamily="66" charset="0"/>
              </a:rPr>
              <a:t>• Motion detection using background subtraction  </a:t>
            </a:r>
          </a:p>
          <a:p>
            <a:pPr algn="l"/>
            <a:r>
              <a:rPr lang="en-US" dirty="0">
                <a:latin typeface="Comic Sans MS" panose="030F0702030302020204" pitchFamily="66" charset="0"/>
              </a:rPr>
              <a:t>• CUDA-based parallel implementation  </a:t>
            </a:r>
          </a:p>
          <a:p>
            <a:pPr algn="l"/>
            <a:r>
              <a:rPr lang="en-US" dirty="0">
                <a:latin typeface="Comic Sans MS" panose="030F0702030302020204" pitchFamily="66" charset="0"/>
              </a:rPr>
              <a:t>• Sliding window averaging  </a:t>
            </a:r>
          </a:p>
          <a:p>
            <a:pPr algn="l"/>
            <a:r>
              <a:rPr lang="en-US" dirty="0">
                <a:latin typeface="Comic Sans MS" panose="030F0702030302020204" pitchFamily="66" charset="0"/>
              </a:rPr>
              <a:t>• Fast and scalable pipeline </a:t>
            </a:r>
            <a:endParaRPr lang="en-IN" dirty="0">
              <a:latin typeface="Comic Sans MS" panose="030F0702030302020204" pitchFamily="66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7CCE7D-3ED9-3F91-CF6E-4A7EEB4BD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17" y="43087"/>
            <a:ext cx="1571844" cy="14289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1EB99E3-DDC7-8A04-5F83-3ED82D297B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2394" y="43085"/>
            <a:ext cx="4230463" cy="1559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1957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3FBC6-6C43-DCC3-18A8-9C6D26F20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5F49001-1F3D-68CD-87C3-6008E1B5AF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8118" y="1722474"/>
            <a:ext cx="11691327" cy="4669448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INTRODUCTION: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r>
              <a:rPr lang="en-IN" dirty="0">
                <a:latin typeface="Comic Sans MS" panose="030F0702030302020204" pitchFamily="66" charset="0"/>
              </a:rPr>
              <a:t>• Motion detection in surveillance systems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>
                <a:latin typeface="Comic Sans MS" panose="030F0702030302020204" pitchFamily="66" charset="0"/>
              </a:rPr>
              <a:t>Uses sequences of images (video frames)</a:t>
            </a:r>
          </a:p>
          <a:p>
            <a:pPr algn="l"/>
            <a:r>
              <a:rPr lang="en-IN" dirty="0">
                <a:latin typeface="Comic Sans MS" panose="030F0702030302020204" pitchFamily="66" charset="0"/>
              </a:rPr>
              <a:t>• Pixel-wise operations → computationally heavy  </a:t>
            </a:r>
          </a:p>
          <a:p>
            <a:pPr algn="l"/>
            <a:r>
              <a:rPr lang="en-IN" dirty="0">
                <a:latin typeface="Comic Sans MS" panose="030F0702030302020204" pitchFamily="66" charset="0"/>
              </a:rPr>
              <a:t>• CPU → sequential processing  </a:t>
            </a:r>
          </a:p>
          <a:p>
            <a:pPr algn="l"/>
            <a:r>
              <a:rPr lang="en-IN" dirty="0">
                <a:latin typeface="Comic Sans MS" panose="030F0702030302020204" pitchFamily="66" charset="0"/>
              </a:rPr>
              <a:t>• GPU → parallel processing (CUDA)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2B6ADCB-EEB1-A862-9C33-D6B3CF10F1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17" y="43087"/>
            <a:ext cx="1571844" cy="14289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E227366-969F-59FA-09A2-B6D438FD3D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2394" y="43085"/>
            <a:ext cx="4230463" cy="1559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401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4B038-B2DC-FEB0-19D3-BF1BE2CDC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9AB1851-A396-00A4-5FA7-EC8C381FBF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0670" y="1552352"/>
            <a:ext cx="11678775" cy="4839569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4. LITERATURE REVIEW 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210CDC-606F-B3DB-2A5A-BBA1E6853F9A}"/>
              </a:ext>
            </a:extLst>
          </p:cNvPr>
          <p:cNvSpPr txBox="1"/>
          <p:nvPr/>
        </p:nvSpPr>
        <p:spPr>
          <a:xfrm>
            <a:off x="322554" y="3476076"/>
            <a:ext cx="665621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Comic Sans MS" panose="030F0702030302020204" pitchFamily="66" charset="0"/>
              </a:rPr>
              <a:t>Method     | Idea              | Issue</a:t>
            </a:r>
          </a:p>
          <a:p>
            <a:r>
              <a:rPr lang="en-IN" sz="2400" dirty="0">
                <a:latin typeface="Comic Sans MS" panose="030F0702030302020204" pitchFamily="66" charset="0"/>
              </a:rPr>
              <a:t>-----------------------------------------</a:t>
            </a:r>
          </a:p>
          <a:p>
            <a:r>
              <a:rPr lang="en-IN" sz="2400" dirty="0">
                <a:latin typeface="Comic Sans MS" panose="030F0702030302020204" pitchFamily="66" charset="0"/>
              </a:rPr>
              <a:t>GMM        | Probabilistic     | Expensive</a:t>
            </a:r>
          </a:p>
          <a:p>
            <a:r>
              <a:rPr lang="en-IN" sz="2400" dirty="0">
                <a:latin typeface="Comic Sans MS" panose="030F0702030302020204" pitchFamily="66" charset="0"/>
              </a:rPr>
              <a:t>MOG2       | Adaptive          | Heavy</a:t>
            </a:r>
          </a:p>
          <a:p>
            <a:r>
              <a:rPr lang="en-IN" sz="2400" dirty="0" err="1">
                <a:latin typeface="Comic Sans MS" panose="030F0702030302020204" pitchFamily="66" charset="0"/>
              </a:rPr>
              <a:t>ViBe</a:t>
            </a:r>
            <a:r>
              <a:rPr lang="en-IN" sz="2400" dirty="0">
                <a:latin typeface="Comic Sans MS" panose="030F0702030302020204" pitchFamily="66" charset="0"/>
              </a:rPr>
              <a:t>       | Sample-based      | Tuning needed</a:t>
            </a:r>
          </a:p>
          <a:p>
            <a:r>
              <a:rPr lang="en-IN" sz="2400" dirty="0">
                <a:latin typeface="Comic Sans MS" panose="030F0702030302020204" pitchFamily="66" charset="0"/>
              </a:rPr>
              <a:t>CUDA-based | Parallel pixels   | Memory overhead</a:t>
            </a:r>
            <a:endParaRPr lang="en-IN" sz="2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C1BAABA-6077-F383-0644-8D630BBF8D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17" y="43087"/>
            <a:ext cx="1571844" cy="14289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E926411-A1C7-74BB-FCBA-8BC64DDC75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2394" y="43085"/>
            <a:ext cx="4230463" cy="1559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4590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7B404-04D4-75FA-84BB-357930FDC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97EEA78-698E-5531-541A-B90B4F73C8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0670" y="1562986"/>
            <a:ext cx="11678775" cy="4828936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5. RESEARCH GAPS 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153811-ED09-0D68-4EC0-C788F62E4688}"/>
              </a:ext>
            </a:extLst>
          </p:cNvPr>
          <p:cNvSpPr txBox="1"/>
          <p:nvPr/>
        </p:nvSpPr>
        <p:spPr>
          <a:xfrm>
            <a:off x="322554" y="3476076"/>
            <a:ext cx="700989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Comic Sans MS" panose="030F0702030302020204" pitchFamily="66" charset="0"/>
              </a:rPr>
              <a:t>• CPU bottleneck for large data  </a:t>
            </a:r>
          </a:p>
          <a:p>
            <a:r>
              <a:rPr lang="en-US" sz="2400" dirty="0">
                <a:latin typeface="Comic Sans MS" panose="030F0702030302020204" pitchFamily="66" charset="0"/>
              </a:rPr>
              <a:t>• High complexity methods  </a:t>
            </a:r>
          </a:p>
          <a:p>
            <a:r>
              <a:rPr lang="en-US" sz="2400" dirty="0">
                <a:latin typeface="Comic Sans MS" panose="030F0702030302020204" pitchFamily="66" charset="0"/>
              </a:rPr>
              <a:t>• Noise in simple differencing  </a:t>
            </a:r>
          </a:p>
          <a:p>
            <a:r>
              <a:rPr lang="en-US" sz="2400" dirty="0">
                <a:latin typeface="Comic Sans MS" panose="030F0702030302020204" pitchFamily="66" charset="0"/>
              </a:rPr>
              <a:t>• Lack of simple CUDA pipeline </a:t>
            </a:r>
            <a:endParaRPr lang="en-IN" sz="2400" dirty="0">
              <a:latin typeface="Comic Sans MS" panose="030F0702030302020204" pitchFamily="66" charset="0"/>
            </a:endParaRPr>
          </a:p>
          <a:p>
            <a:endParaRPr lang="en-US" sz="2400" dirty="0">
              <a:latin typeface="Comic Sans MS" panose="030F0702030302020204" pitchFamily="66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F0022A9-C44A-DBD7-2134-53140A882F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17" y="43087"/>
            <a:ext cx="1571844" cy="14289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111DB16-0743-EBDD-7984-C50F004738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2394" y="43085"/>
            <a:ext cx="4230463" cy="1559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086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72E3B-97AF-CE3D-A013-DCC18DFEA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B25CA07-CC8A-0BEF-B0BC-4784119328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0670" y="1679944"/>
            <a:ext cx="11678775" cy="4711978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6. PROPOSED METHODOLOGY 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EE93A7-8FC3-E33D-1CBF-78A216B9A9A2}"/>
              </a:ext>
            </a:extLst>
          </p:cNvPr>
          <p:cNvSpPr txBox="1"/>
          <p:nvPr/>
        </p:nvSpPr>
        <p:spPr>
          <a:xfrm>
            <a:off x="4327625" y="2178020"/>
            <a:ext cx="8217597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Comic Sans MS" panose="030F0702030302020204" pitchFamily="66" charset="0"/>
              </a:rPr>
              <a:t>Image Sequence</a:t>
            </a:r>
          </a:p>
          <a:p>
            <a:r>
              <a:rPr lang="en-IN" sz="2400" dirty="0">
                <a:latin typeface="Comic Sans MS" panose="030F0702030302020204" pitchFamily="66" charset="0"/>
              </a:rPr>
              <a:t>      ↓</a:t>
            </a:r>
          </a:p>
          <a:p>
            <a:r>
              <a:rPr lang="en-IN" sz="2400" dirty="0">
                <a:latin typeface="Comic Sans MS" panose="030F0702030302020204" pitchFamily="66" charset="0"/>
              </a:rPr>
              <a:t>Sliding Window Averaging</a:t>
            </a:r>
          </a:p>
          <a:p>
            <a:r>
              <a:rPr lang="en-IN" sz="2400" dirty="0">
                <a:latin typeface="Comic Sans MS" panose="030F0702030302020204" pitchFamily="66" charset="0"/>
              </a:rPr>
              <a:t>      ↓</a:t>
            </a:r>
          </a:p>
          <a:p>
            <a:r>
              <a:rPr lang="en-IN" sz="2400" dirty="0">
                <a:latin typeface="Comic Sans MS" panose="030F0702030302020204" pitchFamily="66" charset="0"/>
              </a:rPr>
              <a:t>Background Subtraction (CUDA)</a:t>
            </a:r>
          </a:p>
          <a:p>
            <a:r>
              <a:rPr lang="en-IN" sz="2400" dirty="0">
                <a:latin typeface="Comic Sans MS" panose="030F0702030302020204" pitchFamily="66" charset="0"/>
              </a:rPr>
              <a:t>      ↓</a:t>
            </a:r>
          </a:p>
          <a:p>
            <a:r>
              <a:rPr lang="en-IN" sz="2400" dirty="0">
                <a:latin typeface="Comic Sans MS" panose="030F0702030302020204" pitchFamily="66" charset="0"/>
              </a:rPr>
              <a:t>Thresholding (CUDA)</a:t>
            </a:r>
          </a:p>
          <a:p>
            <a:r>
              <a:rPr lang="en-IN" sz="2400" dirty="0">
                <a:latin typeface="Comic Sans MS" panose="030F0702030302020204" pitchFamily="66" charset="0"/>
              </a:rPr>
              <a:t>      ↓</a:t>
            </a:r>
          </a:p>
          <a:p>
            <a:r>
              <a:rPr lang="en-IN" sz="2400" dirty="0">
                <a:latin typeface="Comic Sans MS" panose="030F0702030302020204" pitchFamily="66" charset="0"/>
              </a:rPr>
              <a:t>Morphological Erosion (CUDA)</a:t>
            </a:r>
          </a:p>
          <a:p>
            <a:r>
              <a:rPr lang="en-IN" sz="2400" dirty="0">
                <a:latin typeface="Comic Sans MS" panose="030F0702030302020204" pitchFamily="66" charset="0"/>
              </a:rPr>
              <a:t>      ↓</a:t>
            </a:r>
          </a:p>
          <a:p>
            <a:r>
              <a:rPr lang="en-IN" sz="2400" dirty="0">
                <a:latin typeface="Comic Sans MS" panose="030F0702030302020204" pitchFamily="66" charset="0"/>
              </a:rPr>
              <a:t>Motion Detection + Output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418F317-AC23-C288-2FF9-4717C14381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17" y="43087"/>
            <a:ext cx="1571844" cy="14289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2B67EF1-849B-9FFB-E13C-45740974ED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2394" y="43085"/>
            <a:ext cx="4230463" cy="1559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9301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C78AA-4890-BE69-D811-66ED73789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21B8C29-2F31-C247-F730-95DDFAD147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0670" y="1913860"/>
            <a:ext cx="11678775" cy="4478062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l"/>
            <a:r>
              <a:rPr lang="en-IN">
                <a:latin typeface="Comic Sans MS" panose="030F0702030302020204" pitchFamily="66" charset="0"/>
              </a:rPr>
              <a:t>RESULTS </a:t>
            </a:r>
            <a:r>
              <a:rPr lang="en-IN" dirty="0">
                <a:latin typeface="Comic Sans MS" panose="030F0702030302020204" pitchFamily="66" charset="0"/>
              </a:rPr>
              <a:t>&amp; DISCUSSION: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933200-7BD3-77FB-DAD7-543E8943AA46}"/>
              </a:ext>
            </a:extLst>
          </p:cNvPr>
          <p:cNvSpPr txBox="1"/>
          <p:nvPr/>
        </p:nvSpPr>
        <p:spPr>
          <a:xfrm>
            <a:off x="322554" y="3476076"/>
            <a:ext cx="1014128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Comic Sans MS" panose="030F0702030302020204" pitchFamily="66" charset="0"/>
              </a:rPr>
              <a:t>• Clear motion detection (vehicles)  </a:t>
            </a:r>
          </a:p>
          <a:p>
            <a:r>
              <a:rPr lang="en-US" sz="2400" dirty="0">
                <a:latin typeface="Comic Sans MS" panose="030F0702030302020204" pitchFamily="66" charset="0"/>
              </a:rPr>
              <a:t>• Noise reduced via averaging  </a:t>
            </a:r>
          </a:p>
          <a:p>
            <a:r>
              <a:rPr lang="en-US" sz="2400" dirty="0">
                <a:latin typeface="Comic Sans MS" panose="030F0702030302020204" pitchFamily="66" charset="0"/>
              </a:rPr>
              <a:t>• Stable across frames  </a:t>
            </a:r>
          </a:p>
          <a:p>
            <a:r>
              <a:rPr lang="en-US" sz="2400" dirty="0">
                <a:latin typeface="Comic Sans MS" panose="030F0702030302020204" pitchFamily="66" charset="0"/>
              </a:rPr>
              <a:t>• Low latency (~0.05 </a:t>
            </a:r>
            <a:r>
              <a:rPr lang="en-US" sz="2400" dirty="0" err="1">
                <a:latin typeface="Comic Sans MS" panose="030F0702030302020204" pitchFamily="66" charset="0"/>
              </a:rPr>
              <a:t>ms</a:t>
            </a:r>
            <a:r>
              <a:rPr lang="en-US" sz="2400" dirty="0">
                <a:latin typeface="Comic Sans MS" panose="030F0702030302020204" pitchFamily="66" charset="0"/>
              </a:rPr>
              <a:t>)</a:t>
            </a:r>
            <a:endParaRPr lang="en-IN" sz="2400" dirty="0">
              <a:latin typeface="Comic Sans MS" panose="030F0702030302020204" pitchFamily="66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784ED3E-083E-1E0B-732E-034F4F5C59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17" y="43087"/>
            <a:ext cx="1571844" cy="14289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F92FB34-53C0-A751-C055-49BA18D19D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2394" y="43085"/>
            <a:ext cx="4230463" cy="1559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3654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ACD64-928C-58A8-133A-70E4167B9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1147901-9CE7-9168-93FB-B33B78B9A8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0670" y="1913860"/>
            <a:ext cx="11678775" cy="4478062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IMPLEMENTATION DETAILS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7E9619-90C0-3ED6-5DDF-DA61B49E0CEF}"/>
              </a:ext>
            </a:extLst>
          </p:cNvPr>
          <p:cNvSpPr txBox="1"/>
          <p:nvPr/>
        </p:nvSpPr>
        <p:spPr>
          <a:xfrm>
            <a:off x="322554" y="3476076"/>
            <a:ext cx="1014128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Comic Sans MS" panose="030F0702030302020204" pitchFamily="66" charset="0"/>
              </a:rPr>
              <a:t>• Language: C , CUDA  </a:t>
            </a:r>
          </a:p>
          <a:p>
            <a:r>
              <a:rPr lang="en-US" sz="2400" dirty="0">
                <a:latin typeface="Comic Sans MS" panose="030F0702030302020204" pitchFamily="66" charset="0"/>
              </a:rPr>
              <a:t>• Libraries: </a:t>
            </a:r>
            <a:r>
              <a:rPr lang="en-US" sz="2400" dirty="0" err="1">
                <a:latin typeface="Comic Sans MS" panose="030F0702030302020204" pitchFamily="66" charset="0"/>
              </a:rPr>
              <a:t>stb_image</a:t>
            </a:r>
            <a:r>
              <a:rPr lang="en-US" sz="2400" dirty="0">
                <a:latin typeface="Comic Sans MS" panose="030F0702030302020204" pitchFamily="66" charset="0"/>
              </a:rPr>
              <a:t>, </a:t>
            </a:r>
            <a:r>
              <a:rPr lang="en-US" sz="2400" dirty="0" err="1">
                <a:latin typeface="Comic Sans MS" panose="030F0702030302020204" pitchFamily="66" charset="0"/>
              </a:rPr>
              <a:t>stb_image_write</a:t>
            </a:r>
            <a:r>
              <a:rPr lang="en-US" sz="2400" dirty="0">
                <a:latin typeface="Comic Sans MS" panose="030F0702030302020204" pitchFamily="66" charset="0"/>
              </a:rPr>
              <a:t>  </a:t>
            </a:r>
          </a:p>
          <a:p>
            <a:r>
              <a:rPr lang="en-US" sz="2400" dirty="0">
                <a:latin typeface="Comic Sans MS" panose="030F0702030302020204" pitchFamily="66" charset="0"/>
              </a:rPr>
              <a:t>• Dataset: CDnet 2014 (Highway)  </a:t>
            </a:r>
          </a:p>
          <a:p>
            <a:r>
              <a:rPr lang="en-US" sz="2400" dirty="0">
                <a:latin typeface="Comic Sans MS" panose="030F0702030302020204" pitchFamily="66" charset="0"/>
              </a:rPr>
              <a:t>• Window Size: 7 frames  </a:t>
            </a:r>
          </a:p>
          <a:p>
            <a:r>
              <a:rPr lang="en-US" sz="2400" dirty="0">
                <a:latin typeface="Comic Sans MS" panose="030F0702030302020204" pitchFamily="66" charset="0"/>
              </a:rPr>
              <a:t>• Threshold: 10 </a:t>
            </a:r>
            <a:endParaRPr lang="en-IN" sz="2400" dirty="0">
              <a:latin typeface="Comic Sans MS" panose="030F0702030302020204" pitchFamily="66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08C34AF-B8C3-DA0D-D86F-CF1B02FB61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17" y="43087"/>
            <a:ext cx="1571844" cy="14289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E451CD2-70B9-E398-38CC-7FBEF2DA50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2394" y="43085"/>
            <a:ext cx="4230463" cy="1559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3843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920C1-C3C6-78F9-3695-A2BC1595F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B353806-FC43-285F-95EB-BF408B5B22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0670" y="1807534"/>
            <a:ext cx="11678775" cy="4584387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8. COMPARATIVE ANALYSIS (if any) 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192D0F-A1EC-49AD-F0CC-0937C8DC948F}"/>
              </a:ext>
            </a:extLst>
          </p:cNvPr>
          <p:cNvSpPr txBox="1"/>
          <p:nvPr/>
        </p:nvSpPr>
        <p:spPr>
          <a:xfrm>
            <a:off x="1244160" y="3089635"/>
            <a:ext cx="101412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2400" dirty="0">
              <a:latin typeface="Comic Sans MS" panose="030F0702030302020204" pitchFamily="66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9DF9F5E-6A00-8C9E-614F-698FEED6C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17" y="43087"/>
            <a:ext cx="1571844" cy="14289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9847858-DE66-0DBB-DA7F-48CD5ABF4B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2394" y="43085"/>
            <a:ext cx="4230463" cy="1559617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5EF67D1-A296-8CC4-9FF2-AEF4D2AB8A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8047967"/>
              </p:ext>
            </p:extLst>
          </p:nvPr>
        </p:nvGraphicFramePr>
        <p:xfrm>
          <a:off x="1966057" y="3172627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0339093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662826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Comic Sans MS" panose="030F0702030302020204" pitchFamily="66" charset="0"/>
                        </a:rPr>
                        <a:t>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GPU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60645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Comic Sans MS" panose="030F0702030302020204" pitchFamily="66" charset="0"/>
                        </a:rPr>
                        <a:t>1.Sequential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omic Sans MS" panose="030F0702030302020204" pitchFamily="66" charset="0"/>
                        </a:rPr>
                        <a:t>1. Parallel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62970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Comic Sans MS" panose="030F0702030302020204" pitchFamily="66" charset="0"/>
                        </a:rPr>
                        <a:t>2.Higher 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2.</a:t>
                      </a:r>
                      <a:r>
                        <a:rPr lang="en-US" sz="1800" dirty="0">
                          <a:latin typeface="Comic Sans MS" panose="030F0702030302020204" pitchFamily="66" charset="0"/>
                        </a:rPr>
                        <a:t> Low latency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75482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Comic Sans MS" panose="030F0702030302020204" pitchFamily="66" charset="0"/>
                        </a:rPr>
                        <a:t>3.Less Scalable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3.</a:t>
                      </a:r>
                      <a:r>
                        <a:rPr lang="en-US" sz="1800" dirty="0">
                          <a:latin typeface="Comic Sans MS" panose="030F0702030302020204" pitchFamily="66" charset="0"/>
                        </a:rPr>
                        <a:t> Highly scalable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3918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Comic Sans MS" panose="030F0702030302020204" pitchFamily="66" charset="0"/>
                        </a:rPr>
                        <a:t>4.Slower Computation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4.</a:t>
                      </a:r>
                      <a:r>
                        <a:rPr lang="en-US" sz="1800" dirty="0">
                          <a:latin typeface="Comic Sans MS" panose="030F0702030302020204" pitchFamily="66" charset="0"/>
                        </a:rPr>
                        <a:t> Quick Computation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99538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66971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62010-2CE6-D32C-68D6-D038A49DF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BBA77-5E18-055D-2366-C932DF80AC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0670" y="1850064"/>
            <a:ext cx="11678775" cy="4541857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CONCLUSION &amp; FUTURE WORK :</a:t>
            </a:r>
          </a:p>
          <a:p>
            <a:pPr algn="l"/>
            <a:endParaRPr lang="en-IN" dirty="0">
              <a:latin typeface="Comic Sans MS" panose="030F0702030302020204" pitchFamily="66" charset="0"/>
            </a:endParaRPr>
          </a:p>
          <a:p>
            <a:pPr algn="l"/>
            <a:r>
              <a:rPr lang="en-US" dirty="0">
                <a:latin typeface="Comic Sans MS" panose="030F0702030302020204" pitchFamily="66" charset="0"/>
              </a:rPr>
              <a:t>• Efficient motion detection using CUDA  </a:t>
            </a:r>
          </a:p>
          <a:p>
            <a:pPr algn="l"/>
            <a:r>
              <a:rPr lang="en-US" dirty="0">
                <a:latin typeface="Comic Sans MS" panose="030F0702030302020204" pitchFamily="66" charset="0"/>
              </a:rPr>
              <a:t>• Improved speed and robustness  </a:t>
            </a:r>
          </a:p>
          <a:p>
            <a:pPr algn="l"/>
            <a:r>
              <a:rPr lang="en-US" dirty="0">
                <a:latin typeface="Comic Sans MS" panose="030F0702030302020204" pitchFamily="66" charset="0"/>
              </a:rPr>
              <a:t>• Extend to real-time video  </a:t>
            </a:r>
          </a:p>
          <a:p>
            <a:pPr algn="l"/>
            <a:r>
              <a:rPr lang="en-US" dirty="0">
                <a:latin typeface="Comic Sans MS" panose="030F0702030302020204" pitchFamily="66" charset="0"/>
              </a:rPr>
              <a:t>• Use MPI for scaling as future work</a:t>
            </a:r>
            <a:endParaRPr lang="en-IN" dirty="0">
              <a:latin typeface="Comic Sans MS" panose="030F0702030302020204" pitchFamily="66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C4C1A0E-E1AF-15F2-B9EF-673B9A309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17" y="43087"/>
            <a:ext cx="1571844" cy="14289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4EDB3BD-28C0-5213-01A8-E10EBF1A6B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2394" y="43085"/>
            <a:ext cx="4230463" cy="1559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208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B76EB-06D1-37EE-AC48-15E7E71E2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19E2234-3D63-7BEE-2AE3-691B8611AE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0670" y="1701208"/>
            <a:ext cx="11759852" cy="469071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l"/>
            <a:r>
              <a:rPr lang="en-IN" dirty="0">
                <a:latin typeface="Comic Sans MS" panose="030F0702030302020204" pitchFamily="66" charset="0"/>
              </a:rPr>
              <a:t>10. REFERENCES 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AECBD1-9886-B2E6-2FEE-581C4C5A30D8}"/>
              </a:ext>
            </a:extLst>
          </p:cNvPr>
          <p:cNvSpPr txBox="1"/>
          <p:nvPr/>
        </p:nvSpPr>
        <p:spPr>
          <a:xfrm>
            <a:off x="271745" y="3218177"/>
            <a:ext cx="94386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dirty="0">
                <a:latin typeface="Comic Sans MS" panose="030F0702030302020204" pitchFamily="66" charset="0"/>
              </a:rPr>
              <a:t>NOTE : PUT ALL THE REFERENCES IN THE PROPER FORMAT.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79F10EA-FB56-85D5-597F-9E0C4E9E1D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17" y="43087"/>
            <a:ext cx="1571844" cy="14289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A19163F-EB2D-7729-59DA-BA5DA1DB0B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2394" y="43085"/>
            <a:ext cx="4230463" cy="1559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535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8F7E4FCB1512840BAD4581AEB2993C3" ma:contentTypeVersion="3" ma:contentTypeDescription="Create a new document." ma:contentTypeScope="" ma:versionID="324425fce7a942132883d4f789ce0353">
  <xsd:schema xmlns:xsd="http://www.w3.org/2001/XMLSchema" xmlns:xs="http://www.w3.org/2001/XMLSchema" xmlns:p="http://schemas.microsoft.com/office/2006/metadata/properties" xmlns:ns2="e8abe1e0-1045-4bfa-861e-7a9dbaef2821" targetNamespace="http://schemas.microsoft.com/office/2006/metadata/properties" ma:root="true" ma:fieldsID="38e4dca0b9b8fb153f01297bae77524f" ns2:_="">
    <xsd:import namespace="e8abe1e0-1045-4bfa-861e-7a9dbaef282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abe1e0-1045-4bfa-861e-7a9dbaef282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4EF7D7B-B559-4189-BC9C-F6C0263F07E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8abe1e0-1045-4bfa-861e-7a9dbaef282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9732A3F-C52B-4CC5-A965-59BA7DF02B60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1D246EDF-2315-4E9E-BF24-E386E59C86D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492</TotalTime>
  <Words>374</Words>
  <Application>Microsoft Office PowerPoint</Application>
  <PresentationFormat>Widescreen</PresentationFormat>
  <Paragraphs>90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Comic Sans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MOOLCHAND SHARMA</dc:creator>
  <cp:lastModifiedBy>Piyansu Bagaria</cp:lastModifiedBy>
  <cp:revision>26</cp:revision>
  <dcterms:created xsi:type="dcterms:W3CDTF">2021-02-05T14:09:33Z</dcterms:created>
  <dcterms:modified xsi:type="dcterms:W3CDTF">2026-04-09T04:32:43Z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0x010100C8F7E4FCB1512840BAD4581AEB2993C3</vt:lpwstr>
  </property>
</Properties>
</file>